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5" r:id="rId16"/>
    <p:sldId id="257" r:id="rId8"/>
    <p:sldId id="258" r:id="rId9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09728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023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A1A1A"/>
                </a:solidFill>
                <a:latin typeface="Poppins"/>
              </a:defRPr>
            </a:pPr>
            <a:r>
              <a:t>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1A1A1A"/>
                </a:solidFill>
                <a:latin typeface="Poppins"/>
              </a:defRPr>
            </a:pPr>
            <a:r>
              <a:t>Yazio – The AI mascot for healthy living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1A1A1A"/>
                </a:solidFill>
                <a:latin typeface="Poppins"/>
              </a:defRPr>
            </a:pPr>
            <a:r>
              <a:t>Yazio //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Poppins"/>
              </a:defRPr>
            </a:pPr>
            <a:r>
              <a:t>18 April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0"/>
            <a:ext cx="4389120" cy="4754880"/>
          </a:xfrm>
          <a:prstGeom prst="roundRect">
            <a:avLst/>
          </a:prstGeom>
          <a:solidFill>
            <a:srgbClr val="E6E9EC"/>
          </a:solidFill>
          <a:ln w="15875">
            <a:solidFill>
              <a:srgbClr val="B4B8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18541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8C919B"/>
                </a:solidFill>
                <a:latin typeface="Poppins"/>
              </a:defRPr>
            </a:pPr>
            <a:r>
              <a:t>Mascot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A1A1A"/>
                </a:solidFill>
                <a:latin typeface="Poppins"/>
              </a:defRPr>
            </a:pPr>
            <a:r>
              <a:t>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Poppins"/>
              </a:defRPr>
            </a:pPr>
            <a:r>
              <a:t>Key challenges we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24993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249936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95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4CAF50"/>
                </a:solidFill>
                <a:latin typeface="Poppi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195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Poppins"/>
              </a:defRPr>
            </a:pPr>
            <a:r>
              <a:t>Low Engagement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19507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Poppins"/>
              </a:defRPr>
            </a:pPr>
            <a:r>
              <a:t>Users drop off after first visit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2320" y="1645920"/>
            <a:ext cx="24993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2320" y="1645920"/>
            <a:ext cx="249936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6640" y="1920240"/>
            <a:ext cx="195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4CAF50"/>
                </a:solidFill>
                <a:latin typeface="Poppin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6640" y="2697480"/>
            <a:ext cx="195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Poppins"/>
              </a:defRPr>
            </a:pPr>
            <a:r>
              <a:t>Generic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6640" y="3200400"/>
            <a:ext cx="19507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Poppins"/>
              </a:defRPr>
            </a:pPr>
            <a:r>
              <a:t>Cookie-cutter chatbot responses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1720" y="1645920"/>
            <a:ext cx="24993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1720" y="1645920"/>
            <a:ext cx="249936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6040" y="1920240"/>
            <a:ext cx="195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4CAF50"/>
                </a:solidFill>
                <a:latin typeface="Poppin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6040" y="2697480"/>
            <a:ext cx="195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Poppins"/>
              </a:defRPr>
            </a:pPr>
            <a:r>
              <a:t>Brand Disconnect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6040" y="3200400"/>
            <a:ext cx="19507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Poppins"/>
              </a:defRPr>
            </a:pPr>
            <a:r>
              <a:t>No personality in digital touchpoints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828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FF5722"/>
                </a:solidFill>
                <a:latin typeface="Poppins"/>
              </a:defRPr>
            </a:pPr>
            <a:r>
              <a:t>notso.ai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4CAF50"/>
                </a:solidFill>
                <a:latin typeface="Poppins"/>
              </a:defRPr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418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B7280"/>
                </a:solidFill>
                <a:latin typeface="Poppins"/>
              </a:defRPr>
            </a:pPr>
            <a:r>
              <a:t>What makes Yazio special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6191"/>
            <a:ext cx="3977639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36191"/>
            <a:ext cx="91440" cy="1508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19071"/>
            <a:ext cx="22859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CAF50"/>
                </a:solidFill>
                <a:latin typeface="Poppins"/>
              </a:defRPr>
            </a:pPr>
            <a:r>
              <a:t>Empathetic Conversations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548640" cy="3200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21991"/>
            <a:ext cx="2285999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7280"/>
                </a:solidFill>
                <a:latin typeface="Poppins"/>
              </a:defRPr>
            </a:pPr>
            <a:r>
              <a:t>Natural language with emotional intelligence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7" y="1700783"/>
            <a:ext cx="1234440" cy="1179576"/>
          </a:xfrm>
          <a:prstGeom prst="rect">
            <a:avLst/>
          </a:prstGeom>
          <a:solidFill>
            <a:srgbClr val="D7EDD8"/>
          </a:solidFill>
          <a:ln w="9525">
            <a:solidFill>
              <a:srgbClr val="4CAF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59" y="1536191"/>
            <a:ext cx="3977639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1536191"/>
            <a:ext cx="91440" cy="1508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79" y="1719071"/>
            <a:ext cx="22859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CAF50"/>
                </a:solidFill>
                <a:latin typeface="Poppins"/>
              </a:defRPr>
            </a:pPr>
            <a:r>
              <a:t>Brand Personality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79" y="2103120"/>
            <a:ext cx="548640" cy="3200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79" y="2221991"/>
            <a:ext cx="2285999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7280"/>
                </a:solidFill>
                <a:latin typeface="Poppins"/>
              </a:defRPr>
            </a:pPr>
            <a:r>
              <a:t>Custom 3D mascot that represents your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87768" y="1700783"/>
            <a:ext cx="1234440" cy="1179576"/>
          </a:xfrm>
          <a:prstGeom prst="rect">
            <a:avLst/>
          </a:prstGeom>
          <a:solidFill>
            <a:srgbClr val="D7EDD8"/>
          </a:solidFill>
          <a:ln w="9525">
            <a:solidFill>
              <a:srgbClr val="4CAF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273551"/>
            <a:ext cx="3977639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73551"/>
            <a:ext cx="91440" cy="15087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56432"/>
            <a:ext cx="22859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CAF50"/>
                </a:solidFill>
                <a:latin typeface="Poppins"/>
              </a:defRPr>
            </a:pPr>
            <a:r>
              <a:t>Smart Routing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840479"/>
            <a:ext cx="548640" cy="32004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59352"/>
            <a:ext cx="2285999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7280"/>
                </a:solidFill>
                <a:latin typeface="Poppins"/>
              </a:defRPr>
            </a:pPr>
            <a:r>
              <a:t>Intelligent escalation to human agents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527" y="3438144"/>
            <a:ext cx="1234440" cy="1179576"/>
          </a:xfrm>
          <a:prstGeom prst="rect">
            <a:avLst/>
          </a:prstGeom>
          <a:solidFill>
            <a:srgbClr val="D7EDD8"/>
          </a:solidFill>
          <a:ln w="9525">
            <a:solidFill>
              <a:srgbClr val="4CAF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59" y="3273551"/>
            <a:ext cx="3977639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9159" y="3273551"/>
            <a:ext cx="91440" cy="150876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79" y="3456432"/>
            <a:ext cx="22859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CAF50"/>
                </a:solidFill>
                <a:latin typeface="Poppins"/>
              </a:defRPr>
            </a:pPr>
            <a:r>
              <a:t>Analytics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79" y="3840479"/>
            <a:ext cx="548640" cy="32004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79" y="3959352"/>
            <a:ext cx="2285999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7280"/>
                </a:solidFill>
                <a:latin typeface="Poppins"/>
              </a:defRPr>
            </a:pPr>
            <a:r>
              <a:t>Real-time insights into user interactions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87768" y="3438144"/>
            <a:ext cx="1234440" cy="1179576"/>
          </a:xfrm>
          <a:prstGeom prst="rect">
            <a:avLst/>
          </a:prstGeom>
          <a:solidFill>
            <a:srgbClr val="D7EDD8"/>
          </a:solidFill>
          <a:ln w="9525">
            <a:solidFill>
              <a:srgbClr val="4CAF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4828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FF5722"/>
                </a:solidFill>
                <a:latin typeface="Poppins"/>
              </a:defRPr>
            </a:pPr>
            <a:r>
              <a:t>notso.ai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4CAF50"/>
                </a:solidFill>
                <a:latin typeface="Poppins"/>
              </a:defRPr>
            </a:pPr>
            <a:r>
              <a:t>Mascot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4828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FF5722"/>
                </a:solidFill>
                <a:latin typeface="Poppins"/>
              </a:defRPr>
            </a:pPr>
            <a:r>
              <a:t>notso.ai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4CAF50"/>
                </a:solidFill>
                <a:latin typeface="Poppins"/>
              </a:defRPr>
            </a:pPr>
            <a:r>
              <a:t>YAZIO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Poppins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02920" y="2606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1A"/>
                </a:solidFill>
                <a:latin typeface="Poppins"/>
              </a:defRPr>
            </a:pPr>
            <a:r>
              <a:t>Personality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718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7280"/>
                </a:solidFill>
                <a:latin typeface="Poppins"/>
              </a:defRPr>
            </a:pPr>
            <a:r>
              <a:t>Formal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29718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6B7280"/>
                </a:solidFill>
                <a:latin typeface="Poppins"/>
              </a:defRPr>
            </a:pPr>
            <a:r>
              <a:t>Informal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172968"/>
            <a:ext cx="2468880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172968"/>
            <a:ext cx="1097280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3558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7280"/>
                </a:solidFill>
                <a:latin typeface="Poppins"/>
              </a:defRPr>
            </a:pPr>
            <a:r>
              <a:t>Concise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3558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6B7280"/>
                </a:solidFill>
                <a:latin typeface="Poppins"/>
              </a:defRPr>
            </a:pPr>
            <a:r>
              <a:t>Detailed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57016"/>
            <a:ext cx="2468880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557016"/>
            <a:ext cx="1325880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3989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7280"/>
                </a:solidFill>
                <a:latin typeface="Poppins"/>
              </a:defRPr>
            </a:pPr>
            <a:r>
              <a:t>Serious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73989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6B7280"/>
                </a:solidFill>
                <a:latin typeface="Poppins"/>
              </a:defRPr>
            </a:pPr>
            <a:r>
              <a:t>Playful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941063"/>
            <a:ext cx="2468880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941063"/>
            <a:ext cx="1554480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274320"/>
            <a:ext cx="4572000" cy="2743200"/>
          </a:xfrm>
          <a:prstGeom prst="roundRect">
            <a:avLst/>
          </a:prstGeom>
          <a:solidFill>
            <a:srgbClr val="E6E9EC"/>
          </a:solidFill>
          <a:ln w="15875">
            <a:solidFill>
              <a:srgbClr val="B4B8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45389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8C919B"/>
                </a:solidFill>
                <a:latin typeface="Poppins"/>
              </a:defRPr>
            </a:pPr>
            <a:r>
              <a:t>Mascot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1A"/>
                </a:solidFill>
                <a:latin typeface="Poppins"/>
              </a:defRPr>
            </a:pPr>
            <a:r>
              <a:t>Catchphrases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828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FF5722"/>
                </a:solidFill>
                <a:latin typeface="Poppins"/>
              </a:defRPr>
            </a:pPr>
            <a:r>
              <a:t>notso.ai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4CAF50"/>
                </a:solidFill>
                <a:latin typeface="Poppins"/>
              </a:defRPr>
            </a:pPr>
            <a:r>
              <a:t>Chat Demo: Yazio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2926080" cy="2926080"/>
          </a:xfrm>
          <a:prstGeom prst="roundRect">
            <a:avLst/>
          </a:prstGeom>
          <a:solidFill>
            <a:srgbClr val="E6E9EC"/>
          </a:solidFill>
          <a:ln w="15875">
            <a:solidFill>
              <a:srgbClr val="B4B8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4261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8C919B"/>
                </a:solidFill>
                <a:latin typeface="Poppins"/>
              </a:defRPr>
            </a:pPr>
            <a:r>
              <a:t>Mascot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11880" y="1005840"/>
            <a:ext cx="52578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11880" y="1005840"/>
            <a:ext cx="5257800" cy="45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1097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4CAF50"/>
                </a:solidFill>
                <a:latin typeface="Poppins"/>
              </a:defRPr>
            </a:pPr>
            <a:r>
              <a:t>Yazio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097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B7280"/>
                </a:solidFill>
                <a:latin typeface="Poppins"/>
              </a:defRPr>
            </a:pPr>
            <a:r>
              <a:t>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4389120"/>
            <a:ext cx="4709160" cy="32004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44531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FFFFFF"/>
                </a:solidFill>
                <a:latin typeface="Poppins"/>
              </a:defRPr>
            </a:pPr>
            <a:r>
              <a:t>Say something...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828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FF5722"/>
                </a:solidFill>
                <a:latin typeface="Poppins"/>
              </a:defRPr>
            </a:pPr>
            <a:r>
              <a:t>notso.ai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4CAF50"/>
                </a:solidFill>
                <a:latin typeface="Poppins"/>
              </a:defRPr>
            </a:pPr>
            <a:r>
              <a:t>Data &amp;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71600"/>
            <a:ext cx="4754880" cy="2971800"/>
          </a:xfrm>
          <a:prstGeom prst="rect">
            <a:avLst/>
          </a:prstGeom>
          <a:solidFill>
            <a:srgbClr val="F3F4F6"/>
          </a:solidFill>
          <a:ln w="15875"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06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6B7280"/>
                </a:solidFill>
                <a:latin typeface="Poppins"/>
              </a:defRPr>
            </a:pPr>
            <a:r>
              <a:t>Dashboard Screenshot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CA3AF"/>
                </a:solidFill>
                <a:latin typeface="Poppins"/>
              </a:defRPr>
            </a:pPr>
            <a:r>
              <a:t>(paste your dashboard screenshot here)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1A"/>
                </a:solidFill>
                <a:latin typeface="Poppins"/>
              </a:defRPr>
            </a:pPr>
            <a:r>
              <a:t>Standard Included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7830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Poppins"/>
              </a:defRPr>
            </a:pPr>
            <a:r>
              <a:t>Every conversation becomes actionable business intelligence.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828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FF5722"/>
                </a:solidFill>
                <a:latin typeface="Poppins"/>
              </a:defRPr>
            </a:pPr>
            <a:r>
              <a:t>notso.ai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4CAF50"/>
                </a:solidFill>
                <a:latin typeface="Poppins"/>
              </a:defRPr>
            </a:pPr>
            <a:r>
              <a:t>Pricing  /  Monthly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2529840" cy="27889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371600"/>
            <a:ext cx="2017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Poppins"/>
              </a:defRPr>
            </a:pPr>
            <a:r>
              <a:t>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737360"/>
            <a:ext cx="2017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4CAF50"/>
                </a:solidFill>
                <a:latin typeface="Poppins"/>
              </a:defRPr>
            </a:pPr>
            <a:r>
              <a:t>€399,-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240280"/>
            <a:ext cx="2017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Poppins"/>
              </a:defRPr>
            </a:pPr>
            <a:r>
              <a:t>/month (12-month contract)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2487168"/>
            <a:ext cx="2017776" cy="10972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560320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FFFFFF"/>
                </a:solidFill>
                <a:latin typeface="Poppins"/>
              </a:defRPr>
            </a:pPr>
            <a:r>
              <a:t>1,000 unique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24912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9CA3AF"/>
                </a:solidFill>
                <a:latin typeface="Poppins"/>
              </a:defRPr>
            </a:pPr>
            <a:r>
              <a:t>3,000 conversations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971800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1 Journey (Customer, Client, or Event)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136392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Basic custom character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300984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Knowledge Base: up to 3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465576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Media Pack: 10 images + 5 videos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630168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Basic Analytics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794760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Email support (24-hour response)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07080" y="1188720"/>
            <a:ext cx="2529840" cy="27889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3112" y="1371600"/>
            <a:ext cx="2017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Poppins"/>
              </a:defRPr>
            </a:pPr>
            <a:r>
              <a:t>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3112" y="1737360"/>
            <a:ext cx="2017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C107"/>
                </a:solidFill>
                <a:latin typeface="Poppins"/>
              </a:defRPr>
            </a:pPr>
            <a:r>
              <a:t>€699,-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3112" y="2240280"/>
            <a:ext cx="2017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Poppins"/>
              </a:defRPr>
            </a:pPr>
            <a:r>
              <a:t>/month (12-month contract)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3112" y="2487168"/>
            <a:ext cx="2017776" cy="10972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3112" y="2560320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FFFFFF"/>
                </a:solidFill>
                <a:latin typeface="Poppins"/>
              </a:defRPr>
            </a:pPr>
            <a:r>
              <a:t>2,000 unique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3112" y="2724912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9CA3AF"/>
                </a:solidFill>
                <a:latin typeface="Poppins"/>
              </a:defRPr>
            </a:pPr>
            <a:r>
              <a:t>6,000 conversations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3112" y="2971800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2 Journeys (Customer, Client, or Event)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3112" y="3136392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Premium character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3112" y="3300984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Knowledge Base: up to 10 pages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3112" y="3465576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Media Pack: 25 images + 10 videos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3112" y="3630168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Premium Analytics Portal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3112" y="3794760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Same-day email &amp; phone support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1240" y="1188720"/>
            <a:ext cx="2529840" cy="27889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7272" y="1371600"/>
            <a:ext cx="2017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Poppins"/>
              </a:defRPr>
            </a:pPr>
            <a:r>
              <a:t>Enterprise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7272" y="1737360"/>
            <a:ext cx="20177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E91E63"/>
                </a:solidFill>
                <a:latin typeface="Poppins"/>
              </a:defRPr>
            </a:pPr>
            <a:r>
              <a:t>Custom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7272" y="2240280"/>
            <a:ext cx="2017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Poppins"/>
              </a:defRPr>
            </a:pPr>
            <a:r>
              <a:t>/month (12-month contract)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67272" y="2487168"/>
            <a:ext cx="2017776" cy="10972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7272" y="2560320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FFFFFF"/>
                </a:solidFill>
                <a:latin typeface="Poppins"/>
              </a:defRPr>
            </a:pPr>
            <a:r>
              <a:t>Unlimited users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7272" y="2724912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9CA3AF"/>
                </a:solidFill>
                <a:latin typeface="Poppins"/>
              </a:defRPr>
            </a:pPr>
            <a:r>
              <a:t>Unlimited conversations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7272" y="2971800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Unlimited journeys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7272" y="3136392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Tailor-made character 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7272" y="3300984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API Access / Integrations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7272" y="3465576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Unlimited media &amp; branding content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7272" y="3630168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Custom Analytics Portal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7272" y="3794760"/>
            <a:ext cx="20177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FFFF"/>
                </a:solidFill>
                <a:latin typeface="Poppins"/>
              </a:defRPr>
            </a:pPr>
            <a:r>
              <a:t>24/7 support + dedicated account manager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14223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4CAF50"/>
                </a:solidFill>
                <a:latin typeface="Poppins"/>
              </a:defRPr>
            </a:pPr>
            <a:r>
              <a:t>Addons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416551"/>
            <a:ext cx="1897380" cy="9144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489703"/>
            <a:ext cx="1623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FFFFFF"/>
                </a:solidFill>
                <a:latin typeface="Poppins"/>
              </a:defRPr>
            </a:pPr>
            <a:r>
              <a:t>Extra Character Design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690871"/>
            <a:ext cx="1623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C107"/>
                </a:solidFill>
                <a:latin typeface="Poppins"/>
              </a:defRPr>
            </a:pPr>
            <a:r>
              <a:t>+ €142 /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910327"/>
            <a:ext cx="1623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CA3AF"/>
                </a:solidFill>
                <a:latin typeface="Poppins"/>
              </a:defRPr>
            </a:pPr>
            <a:r>
              <a:t>Add one additional character design to your tier.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83180" y="4416551"/>
            <a:ext cx="1897380" cy="9144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20340" y="4489703"/>
            <a:ext cx="1623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FFFFFF"/>
                </a:solidFill>
                <a:latin typeface="Poppins"/>
              </a:defRPr>
            </a:pPr>
            <a:r>
              <a:t>Extra Journey Slot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20340" y="4690871"/>
            <a:ext cx="1623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C107"/>
                </a:solidFill>
                <a:latin typeface="Poppins"/>
              </a:defRPr>
            </a:pPr>
            <a:r>
              <a:t>+ €96 / month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20340" y="4910327"/>
            <a:ext cx="1623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CA3AF"/>
                </a:solidFill>
                <a:latin typeface="Poppins"/>
              </a:defRPr>
            </a:pPr>
            <a:r>
              <a:t>Add one additional customer/client/event journey.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63440" y="4416551"/>
            <a:ext cx="1897380" cy="9144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00600" y="4489703"/>
            <a:ext cx="1623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FFFFFF"/>
                </a:solidFill>
                <a:latin typeface="Poppins"/>
              </a:defRPr>
            </a:pPr>
            <a:r>
              <a:t>Partner License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0600" y="4690871"/>
            <a:ext cx="1623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C107"/>
                </a:solidFill>
                <a:latin typeface="Poppins"/>
              </a:defRPr>
            </a:pPr>
            <a:r>
              <a:t>+ €149 / month per licence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4910327"/>
            <a:ext cx="1623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CA3AF"/>
                </a:solidFill>
                <a:latin typeface="Poppins"/>
              </a:defRPr>
            </a:pPr>
            <a:r>
              <a:t>Sell the service under your brand ("Notso Powered").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743700" y="4416551"/>
            <a:ext cx="1897380" cy="9144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80860" y="4489703"/>
            <a:ext cx="1623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FFFFFF"/>
                </a:solidFill>
                <a:latin typeface="Poppins"/>
              </a:defRPr>
            </a:pPr>
            <a:r>
              <a:t>Whitelabel License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0860" y="4690871"/>
            <a:ext cx="1623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C107"/>
                </a:solidFill>
                <a:latin typeface="Poppins"/>
              </a:defRPr>
            </a:pPr>
            <a:r>
              <a:t>+ €349 / month per licence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80860" y="4910327"/>
            <a:ext cx="16230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9CA3AF"/>
                </a:solidFill>
                <a:latin typeface="Poppins"/>
              </a:defRPr>
            </a:pPr>
            <a:r>
              <a:t>Fully rebrand the platform as your own (no Notso branding).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4828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FF5722"/>
                </a:solidFill>
                <a:latin typeface="Poppins"/>
              </a:defRPr>
            </a:pPr>
            <a:r>
              <a:t>notso.ai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320040"/>
            <a:ext cx="8503920" cy="45034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0" i="0">
                <a:solidFill>
                  <a:srgbClr val="1E1E1E"/>
                </a:solidFill>
                <a:latin typeface="Poppins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E1E1E"/>
                </a:solidFill>
                <a:latin typeface="Poppins"/>
              </a:defRPr>
            </a:pPr>
            <a:r>
              <a:t>We look forward to working together</a:t>
            </a:r>
            <a:br/>
            <a:br/>
            <a:r>
              <a:t>Yazio will transform how your users interact with your brand.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1E1E"/>
                </a:solidFill>
                <a:latin typeface="Poppins"/>
              </a:defRPr>
            </a:pPr>
            <a:r>
              <a:t>+31 6 34 197 668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1E1E"/>
                </a:solidFill>
                <a:latin typeface="Poppins"/>
              </a:defRPr>
            </a:pPr>
            <a:r>
              <a:t>hello@notso.ai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1E1E"/>
                </a:solidFill>
                <a:latin typeface="Poppins"/>
              </a:defRPr>
            </a:pPr>
            <a:r>
              <a:t>www.notso.ai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93192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E1E1E"/>
                </a:solidFill>
                <a:latin typeface="Poppins"/>
              </a:defRPr>
            </a:pPr>
            <a:r>
              <a:t>Notso B.V.</a:t>
            </a:r>
            <a:br/>
            <a:r>
              <a:t>Berkenstraat 11</a:t>
            </a:r>
            <a:br/>
            <a:r>
              <a:t>Duivendrecht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E1E1E"/>
                </a:solidFill>
                <a:latin typeface="Poppins"/>
              </a:defRPr>
            </a:pPr>
            <a:r>
              <a:t>KvK: 95131124</a:t>
            </a:r>
            <a:br/>
            <a:r>
              <a:t>RSIN: 867013916</a:t>
            </a:r>
            <a:br/>
            <a:r>
              <a:t>VAT: NL867013316B01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57200"/>
            <a:ext cx="2743200" cy="3200400"/>
          </a:xfrm>
          <a:prstGeom prst="roundRect">
            <a:avLst/>
          </a:prstGeom>
          <a:solidFill>
            <a:srgbClr val="E6E9EC"/>
          </a:solidFill>
          <a:ln w="15875">
            <a:solidFill>
              <a:srgbClr val="B4B8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86537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8C919B"/>
                </a:solidFill>
                <a:latin typeface="Poppins"/>
              </a:defRPr>
            </a:pPr>
            <a:r>
              <a:t>Mascot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1A1A1A"/>
                </a:solidFill>
                <a:latin typeface="Poppins"/>
              </a:defRPr>
            </a:pPr>
            <a:r>
              <a:t>TABLE 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1A1A1A"/>
                </a:solidFill>
                <a:latin typeface="Poppins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574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C107"/>
                </a:solidFill>
                <a:latin typeface="Poppin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1A"/>
                </a:solidFill>
                <a:latin typeface="Poppins"/>
              </a:defRPr>
            </a:pPr>
            <a:r>
              <a:t>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0574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C107"/>
                </a:solidFill>
                <a:latin typeface="Poppin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33172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1A"/>
                </a:solidFill>
                <a:latin typeface="Poppins"/>
              </a:defRPr>
            </a:pPr>
            <a:r>
              <a:t>CORE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